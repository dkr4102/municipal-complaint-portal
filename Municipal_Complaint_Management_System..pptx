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81" r:id="rId11"/>
    <p:sldId id="270" r:id="rId12"/>
    <p:sldId id="271" r:id="rId13"/>
    <p:sldId id="272" r:id="rId14"/>
    <p:sldId id="273" r:id="rId15"/>
    <p:sldId id="274" r:id="rId16"/>
    <p:sldId id="282" r:id="rId17"/>
    <p:sldId id="275" r:id="rId18"/>
    <p:sldId id="276" r:id="rId19"/>
    <p:sldId id="277" r:id="rId20"/>
    <p:sldId id="278" r:id="rId21"/>
    <p:sldId id="279" r:id="rId22"/>
    <p:sldId id="280" r:id="rId23"/>
    <p:sldId id="283" r:id="rId24"/>
    <p:sldId id="284" r:id="rId25"/>
    <p:sldId id="264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870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Marwadi University Admissions | Adwize Edu Services">
            <a:extLst>
              <a:ext uri="{FF2B5EF4-FFF2-40B4-BE49-F238E27FC236}">
                <a16:creationId xmlns:a16="http://schemas.microsoft.com/office/drawing/2014/main" id="{B82B0F80-18C1-FC7E-5FBC-0F73EFCC1C27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9884351" y="274638"/>
            <a:ext cx="2307649" cy="69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9601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Municipal Complaint</a:t>
            </a:r>
            <a:br/>
            <a:r>
              <a:t>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2468880"/>
            <a:ext cx="252473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F0F1"/>
                </a:solidFill>
              </a:defRPr>
            </a:pPr>
            <a:r>
              <a:rPr dirty="0"/>
              <a:t>DBMS Mini </a:t>
            </a:r>
            <a:r>
              <a:rPr lang="en-US" dirty="0"/>
              <a:t>Hackathon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822960" y="3154680"/>
            <a:ext cx="51206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2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3154680"/>
            <a:ext cx="73152" cy="1645920"/>
          </a:xfrm>
          <a:prstGeom prst="rect">
            <a:avLst/>
          </a:prstGeom>
          <a:solidFill>
            <a:srgbClr val="18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3310128"/>
            <a:ext cx="4709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3456"/>
                </a:solidFill>
              </a:defRPr>
            </a:pPr>
            <a:r>
              <a:t>Student Details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776472"/>
            <a:ext cx="3003836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</a:defRPr>
            </a:pPr>
            <a:r>
              <a:rPr dirty="0"/>
              <a:t>Name: __</a:t>
            </a:r>
            <a:r>
              <a:rPr lang="en-US" u="sng" dirty="0"/>
              <a:t>Darsh Raval</a:t>
            </a:r>
            <a:r>
              <a:rPr u="sng" dirty="0"/>
              <a:t>______________</a:t>
            </a:r>
            <a:br>
              <a:rPr dirty="0"/>
            </a:br>
            <a:r>
              <a:rPr dirty="0"/>
              <a:t>Enrollment No.: _</a:t>
            </a:r>
            <a:r>
              <a:rPr lang="en-US" u="sng" dirty="0"/>
              <a:t>92610116001             </a:t>
            </a:r>
            <a:br>
              <a:rPr lang="en-US" u="sng" dirty="0"/>
            </a:br>
            <a:r>
              <a:rPr dirty="0"/>
              <a:t>Class / Division: _</a:t>
            </a:r>
            <a:r>
              <a:rPr lang="en-US" u="sng" dirty="0"/>
              <a:t>3EG1</a:t>
            </a:r>
            <a:r>
              <a:rPr dirty="0"/>
              <a:t>____________</a:t>
            </a:r>
            <a:r>
              <a:rPr lang="en-US" u="sng" dirty="0"/>
              <a:t>  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6217920" y="3154680"/>
            <a:ext cx="5029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2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3154680"/>
            <a:ext cx="73152" cy="1645920"/>
          </a:xfrm>
          <a:prstGeom prst="rect">
            <a:avLst/>
          </a:prstGeom>
          <a:solidFill>
            <a:srgbClr val="EEB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3310128"/>
            <a:ext cx="4617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3456"/>
                </a:solidFill>
              </a:defRPr>
            </a:pPr>
            <a:r>
              <a:t>Academic Details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776472"/>
            <a:ext cx="3303212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</a:defRPr>
            </a:pPr>
            <a:r>
              <a:rPr dirty="0"/>
              <a:t>Subject: Database Management System</a:t>
            </a:r>
            <a:br>
              <a:rPr dirty="0"/>
            </a:br>
            <a:r>
              <a:rPr dirty="0"/>
              <a:t>Faculty: _</a:t>
            </a:r>
            <a:r>
              <a:rPr lang="en-US" u="sng" dirty="0"/>
              <a:t>Prof. Megha Dabas</a:t>
            </a:r>
            <a:r>
              <a:rPr dirty="0"/>
              <a:t>_________</a:t>
            </a:r>
            <a:r>
              <a:rPr lang="en-US" u="sng" dirty="0"/>
              <a:t>     </a:t>
            </a:r>
            <a:br>
              <a:rPr dirty="0"/>
            </a:br>
            <a:r>
              <a:rPr dirty="0"/>
              <a:t>College / University: _</a:t>
            </a:r>
            <a:r>
              <a:rPr lang="en-US" u="sng" dirty="0" err="1"/>
              <a:t>Marwadi</a:t>
            </a:r>
            <a:r>
              <a:rPr lang="en-US" u="sng" dirty="0"/>
              <a:t> University</a:t>
            </a:r>
            <a:r>
              <a:rPr dirty="0"/>
              <a:t>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257800"/>
            <a:ext cx="3553793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EEB44A"/>
                </a:solidFill>
              </a:defRPr>
            </a:pPr>
            <a:r>
              <a:rPr dirty="0"/>
              <a:t>HTML • CSS • JavaScript • Python • SQLite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5F44B6-5CF4-95E5-3D76-D3AAF5056466}"/>
              </a:ext>
            </a:extLst>
          </p:cNvPr>
          <p:cNvSpPr txBox="1"/>
          <p:nvPr/>
        </p:nvSpPr>
        <p:spPr>
          <a:xfrm>
            <a:off x="11279066" y="6510528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8"/>
                </a:solidFill>
              </a:defRPr>
            </a:pPr>
            <a:r>
              <a:rPr lang="en-US" dirty="0">
                <a:solidFill>
                  <a:schemeClr val="bg1"/>
                </a:solidFill>
              </a:rPr>
              <a:t>1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6" name="Picture 15" descr="MU logo">
            <a:extLst>
              <a:ext uri="{FF2B5EF4-FFF2-40B4-BE49-F238E27FC236}">
                <a16:creationId xmlns:a16="http://schemas.microsoft.com/office/drawing/2014/main" id="{4CDCC3A9-828A-ADD5-8E0D-3D3520334D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307"/>
          <a:stretch>
            <a:fillRect/>
          </a:stretch>
        </p:blipFill>
        <p:spPr>
          <a:xfrm>
            <a:off x="10034512" y="237464"/>
            <a:ext cx="2059455" cy="8910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456"/>
                </a:solidFill>
              </a:defRPr>
            </a:pPr>
            <a: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C78"/>
                </a:solidFill>
              </a:defRPr>
            </a:pPr>
            <a:r>
              <a:t>Why a municipal complaint database is needed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3035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3566160"/>
          </a:xfrm>
          <a:prstGeom prst="rect">
            <a:avLst/>
          </a:prstGeom>
          <a:solidFill>
            <a:srgbClr val="18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3456"/>
                </a:solidFill>
              </a:defRPr>
            </a:pPr>
            <a:r>
              <a:t>Existing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39112"/>
            <a:ext cx="4986558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D37"/>
                </a:solidFill>
              </a:defRPr>
            </a:pPr>
            <a:r>
              <a:rPr dirty="0"/>
              <a:t>Municipalities receive complaints about garbage, water,</a:t>
            </a:r>
            <a:endParaRPr lang="en-US" dirty="0"/>
          </a:p>
          <a:p>
            <a:pPr>
              <a:defRPr sz="1600">
                <a:solidFill>
                  <a:srgbClr val="232D37"/>
                </a:solidFill>
              </a:defRPr>
            </a:pPr>
            <a:r>
              <a:rPr dirty="0"/>
              <a:t> roads, street lights and drainage.</a:t>
            </a:r>
            <a:br>
              <a:rPr dirty="0"/>
            </a:br>
            <a:br>
              <a:rPr dirty="0"/>
            </a:br>
            <a:r>
              <a:rPr dirty="0"/>
              <a:t>Manual handling makes it difficult to organize complaints,</a:t>
            </a:r>
            <a:endParaRPr lang="en-US" dirty="0"/>
          </a:p>
          <a:p>
            <a:pPr>
              <a:defRPr sz="1600">
                <a:solidFill>
                  <a:srgbClr val="232D37"/>
                </a:solidFill>
              </a:defRPr>
            </a:pPr>
            <a:r>
              <a:rPr dirty="0"/>
              <a:t>assign the correct department, follow status changes and </a:t>
            </a:r>
            <a:endParaRPr lang="en-US" dirty="0"/>
          </a:p>
          <a:p>
            <a:pPr>
              <a:defRPr sz="1600">
                <a:solidFill>
                  <a:srgbClr val="232D37"/>
                </a:solidFill>
              </a:defRPr>
            </a:pPr>
            <a:r>
              <a:rPr dirty="0"/>
              <a:t>preserve resolution history.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035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73152" cy="3566160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572768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3456"/>
                </a:solidFill>
              </a:defRPr>
            </a:pPr>
            <a:r>
              <a:t>Proposed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39112"/>
            <a:ext cx="5038687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D37"/>
                </a:solidFill>
              </a:defRPr>
            </a:pPr>
            <a:r>
              <a:rPr dirty="0"/>
              <a:t>A centralized system stores citizen, category, location, </a:t>
            </a:r>
            <a:endParaRPr lang="en-US" dirty="0"/>
          </a:p>
          <a:p>
            <a:pPr>
              <a:defRPr sz="1600">
                <a:solidFill>
                  <a:srgbClr val="232D37"/>
                </a:solidFill>
              </a:defRPr>
            </a:pPr>
            <a:r>
              <a:rPr dirty="0"/>
              <a:t>department, status, history and resolution data in a </a:t>
            </a:r>
            <a:endParaRPr lang="en-US" dirty="0"/>
          </a:p>
          <a:p>
            <a:pPr>
              <a:defRPr sz="1600">
                <a:solidFill>
                  <a:srgbClr val="232D37"/>
                </a:solidFill>
              </a:defRPr>
            </a:pPr>
            <a:r>
              <a:rPr dirty="0"/>
              <a:t>structured database.</a:t>
            </a:r>
            <a:br>
              <a:rPr dirty="0"/>
            </a:br>
            <a:br>
              <a:rPr dirty="0"/>
            </a:br>
            <a:r>
              <a:rPr dirty="0"/>
              <a:t>The system provides separate User and Admin dashboards</a:t>
            </a:r>
            <a:endParaRPr lang="en-US" dirty="0"/>
          </a:p>
          <a:p>
            <a:pPr>
              <a:defRPr sz="1600">
                <a:solidFill>
                  <a:srgbClr val="232D37"/>
                </a:solidFill>
              </a:defRPr>
            </a:pPr>
            <a:r>
              <a:rPr dirty="0"/>
              <a:t> and does not require login or registration.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446520"/>
            <a:ext cx="10972800" cy="18288"/>
          </a:xfrm>
          <a:prstGeom prst="rect">
            <a:avLst/>
          </a:prstGeom>
          <a:solidFill>
            <a:srgbClr val="D2D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456"/>
                </a:solidFill>
              </a:defRPr>
            </a:pPr>
            <a:r>
              <a:t>3. Requirements / Business Rules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3949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2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73152" cy="4572000"/>
          </a:xfrm>
          <a:prstGeom prst="rect">
            <a:avLst/>
          </a:prstGeom>
          <a:solidFill>
            <a:srgbClr val="18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481328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3456"/>
                </a:solidFill>
              </a:defRPr>
            </a:pPr>
            <a:r>
              <a:t>Functional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47672"/>
            <a:ext cx="4983480" cy="38221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</a:defRPr>
            </a:pPr>
            <a:r>
              <a:t>• Submit a municipal complaint</a:t>
            </a:r>
            <a:br/>
            <a:r>
              <a:t>• View and track complaints using phone number / complaint ID</a:t>
            </a:r>
            <a:br/>
            <a:r>
              <a:t>• Assign complaints to departments</a:t>
            </a:r>
            <a:br/>
            <a:r>
              <a:t>• Update status and priority</a:t>
            </a:r>
            <a:br/>
            <a:r>
              <a:t>• Add resolution details</a:t>
            </a:r>
            <a:br/>
            <a:r>
              <a:t>• View complaint history</a:t>
            </a:r>
            <a:br/>
            <a:r>
              <a:t>• Manage categories, departments and locations</a:t>
            </a:r>
            <a:br/>
            <a:r>
              <a:t>• Show dashboard statistics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3035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2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325880"/>
            <a:ext cx="73152" cy="4572000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481328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3456"/>
                </a:solidFill>
              </a:defRPr>
            </a:pPr>
            <a:r>
              <a:t>Business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47672"/>
            <a:ext cx="4892040" cy="38221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</a:defRPr>
            </a:pPr>
            <a:r>
              <a:t>1. Every complaint has a citizen.</a:t>
            </a:r>
            <a:br/>
            <a:r>
              <a:t>2. Every complaint has a category and location.</a:t>
            </a:r>
            <a:br/>
            <a:r>
              <a:t>3. A complaint can be assigned to a department.</a:t>
            </a:r>
            <a:br/>
            <a:r>
              <a:t>4. Status follows the complaint workflow.</a:t>
            </a:r>
            <a:br/>
            <a:r>
              <a:t>5. Every status change is stored in complaint_history.</a:t>
            </a:r>
            <a:br/>
            <a:r>
              <a:t>6. A complaint can have one resolution record.</a:t>
            </a:r>
            <a:br/>
            <a:r>
              <a:t>7. IDs are unique.</a:t>
            </a:r>
            <a:br/>
            <a:r>
              <a:t>8. Foreign keys maintain valid relationships.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446520"/>
            <a:ext cx="10972800" cy="18288"/>
          </a:xfrm>
          <a:prstGeom prst="rect">
            <a:avLst/>
          </a:prstGeom>
          <a:solidFill>
            <a:srgbClr val="D2D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456"/>
                </a:solidFill>
              </a:defRPr>
            </a:pPr>
            <a:r>
              <a:t>4. ER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C78"/>
                </a:solidFill>
              </a:defRPr>
            </a:pPr>
            <a:r>
              <a:t>Chen notation with entities, attributes, relationships, cardinality and derived attributes</a:t>
            </a:r>
          </a:p>
        </p:txBody>
      </p:sp>
      <p:pic>
        <p:nvPicPr>
          <p:cNvPr id="5" name="Picture 4" descr="a_wide_clean_technical_er_diagram_on_a_light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34440"/>
            <a:ext cx="10881360" cy="5166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" y="6446520"/>
            <a:ext cx="10972800" cy="18288"/>
          </a:xfrm>
          <a:prstGeom prst="rect">
            <a:avLst/>
          </a:prstGeom>
          <a:solidFill>
            <a:srgbClr val="D2D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456"/>
                </a:solidFill>
              </a:defRPr>
            </a:pPr>
            <a:r>
              <a:t>5. Three-Level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C78"/>
                </a:solidFill>
              </a:defRPr>
            </a:pPr>
            <a:r>
              <a:t>External, conceptual and internal database levels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25880"/>
            <a:ext cx="10332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188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1508760"/>
            <a:ext cx="3017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3456"/>
                </a:solidFill>
              </a:defRPr>
            </a:pPr>
            <a:r>
              <a:t>External Level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508760"/>
            <a:ext cx="3017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898F"/>
                </a:solidFill>
              </a:defRPr>
            </a:pPr>
            <a:r>
              <a:t>User Dashboard + Admin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508760"/>
            <a:ext cx="4572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232D37"/>
                </a:solidFill>
              </a:defRPr>
            </a:pPr>
            <a:r>
              <a:t>User-facing views and operations.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880360"/>
            <a:ext cx="10332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12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3063240"/>
            <a:ext cx="3017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3456"/>
                </a:solidFill>
              </a:defRPr>
            </a:pPr>
            <a:r>
              <a:t>Conceptual 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3063240"/>
            <a:ext cx="3017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898F"/>
                </a:solidFill>
              </a:defRPr>
            </a:pPr>
            <a:r>
              <a:t>Entities + Relationships + Constraints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3063240"/>
            <a:ext cx="4572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232D37"/>
                </a:solidFill>
              </a:defRPr>
            </a:pPr>
            <a:r>
              <a:t>ER model, cardinality, PK/FK and business rules.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434840"/>
            <a:ext cx="10332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EB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4617720"/>
            <a:ext cx="3017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3456"/>
                </a:solidFill>
              </a:defRPr>
            </a:pPr>
            <a:r>
              <a:t>Internal Level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4617720"/>
            <a:ext cx="3017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898F"/>
                </a:solidFill>
              </a:defRPr>
            </a:pPr>
            <a:r>
              <a:t>SQLite tables + indexes + 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617720"/>
            <a:ext cx="4572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232D37"/>
                </a:solidFill>
              </a:defRPr>
            </a:pPr>
            <a:r>
              <a:t>Actual implementation in municipal_complaints.db.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446520"/>
            <a:ext cx="10972800" cy="18288"/>
          </a:xfrm>
          <a:prstGeom prst="rect">
            <a:avLst/>
          </a:prstGeom>
          <a:solidFill>
            <a:srgbClr val="D2D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8992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456"/>
                </a:solidFill>
              </a:defRPr>
            </a:pPr>
            <a:r>
              <a:t>6. Relational Schema / Database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C78"/>
                </a:solidFill>
              </a:defRPr>
            </a:pPr>
            <a:r>
              <a:t>Seven relations produced from the ER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98448"/>
            <a:ext cx="52578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2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298448"/>
            <a:ext cx="73152" cy="1024128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53895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3456"/>
                </a:solidFill>
              </a:defRPr>
            </a:pPr>
            <a:r>
              <a:t>citizens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232D37"/>
                </a:solidFill>
              </a:defRPr>
            </a:pPr>
            <a:r>
              <a:t>citizen_id PK | citizen_name | phone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98448"/>
            <a:ext cx="52578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2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298448"/>
            <a:ext cx="73152" cy="1024128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453895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3456"/>
                </a:solidFill>
              </a:defRPr>
            </a:pPr>
            <a:r>
              <a:t>categories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92024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232D37"/>
                </a:solidFill>
              </a:defRPr>
            </a:pPr>
            <a:r>
              <a:t>category_id PK | category_name | description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551176"/>
            <a:ext cx="52578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2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2551176"/>
            <a:ext cx="73152" cy="1024128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270662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3456"/>
                </a:solidFill>
              </a:defRPr>
            </a:pPr>
            <a:r>
              <a:t>locations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172968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232D37"/>
                </a:solidFill>
              </a:defRPr>
            </a:pPr>
            <a:r>
              <a:t>location_id PK | address | area | city | pincode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551176"/>
            <a:ext cx="52578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2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2551176"/>
            <a:ext cx="73152" cy="1024128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270662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3456"/>
                </a:solidFill>
              </a:defRPr>
            </a:pPr>
            <a:r>
              <a:t>departments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172968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232D37"/>
                </a:solidFill>
              </a:defRPr>
            </a:pPr>
            <a:r>
              <a:t>department_id PK | department_name | contact_email | contact_phone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803904"/>
            <a:ext cx="52578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2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4360" y="3803904"/>
            <a:ext cx="73152" cy="1024128"/>
          </a:xfrm>
          <a:prstGeom prst="rect">
            <a:avLst/>
          </a:prstGeom>
          <a:solidFill>
            <a:srgbClr val="18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395935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3456"/>
                </a:solidFill>
              </a:defRPr>
            </a:pPr>
            <a:r>
              <a:t>complaints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3595" y="4253828"/>
            <a:ext cx="5259773" cy="4370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232D37"/>
                </a:solidFill>
              </a:defRPr>
            </a:pPr>
            <a:r>
              <a:rPr dirty="0" err="1"/>
              <a:t>complaint_id</a:t>
            </a:r>
            <a:r>
              <a:rPr dirty="0"/>
              <a:t> PK | </a:t>
            </a:r>
            <a:r>
              <a:rPr dirty="0" err="1"/>
              <a:t>citizen_id</a:t>
            </a:r>
            <a:r>
              <a:rPr dirty="0"/>
              <a:t> FK | </a:t>
            </a:r>
            <a:r>
              <a:rPr dirty="0" err="1"/>
              <a:t>category_id</a:t>
            </a:r>
            <a:r>
              <a:rPr dirty="0"/>
              <a:t> FK | </a:t>
            </a:r>
            <a:r>
              <a:rPr dirty="0" err="1"/>
              <a:t>location_id</a:t>
            </a:r>
            <a:r>
              <a:rPr dirty="0"/>
              <a:t> FK | </a:t>
            </a:r>
            <a:r>
              <a:rPr dirty="0" err="1"/>
              <a:t>department_id</a:t>
            </a:r>
            <a:r>
              <a:rPr dirty="0"/>
              <a:t> FK | </a:t>
            </a:r>
            <a:endParaRPr lang="en-US" dirty="0"/>
          </a:p>
          <a:p>
            <a:pPr>
              <a:defRPr sz="1120">
                <a:solidFill>
                  <a:srgbClr val="232D37"/>
                </a:solidFill>
              </a:defRPr>
            </a:pPr>
            <a:r>
              <a:rPr dirty="0"/>
              <a:t>title | description | priority | status | </a:t>
            </a:r>
            <a:r>
              <a:rPr dirty="0" err="1"/>
              <a:t>submitted_at</a:t>
            </a:r>
            <a:r>
              <a:rPr dirty="0"/>
              <a:t> | </a:t>
            </a:r>
            <a:r>
              <a:rPr dirty="0" err="1"/>
              <a:t>resolved_at</a:t>
            </a:r>
            <a:endParaRPr dirty="0"/>
          </a:p>
        </p:txBody>
      </p:sp>
      <p:sp>
        <p:nvSpPr>
          <p:cNvPr id="25" name="Rounded Rectangle 24"/>
          <p:cNvSpPr/>
          <p:nvPr/>
        </p:nvSpPr>
        <p:spPr>
          <a:xfrm>
            <a:off x="6217920" y="3803904"/>
            <a:ext cx="52578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2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17920" y="3803904"/>
            <a:ext cx="73152" cy="1024128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395935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3456"/>
                </a:solidFill>
              </a:defRPr>
            </a:pPr>
            <a:r>
              <a:t>complaint_history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358334"/>
            <a:ext cx="5136342" cy="4370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232D37"/>
                </a:solidFill>
              </a:defRPr>
            </a:pPr>
            <a:r>
              <a:rPr dirty="0" err="1"/>
              <a:t>history_id</a:t>
            </a:r>
            <a:r>
              <a:rPr dirty="0"/>
              <a:t> PK | </a:t>
            </a:r>
            <a:r>
              <a:rPr dirty="0" err="1"/>
              <a:t>complaint_id</a:t>
            </a:r>
            <a:r>
              <a:rPr dirty="0"/>
              <a:t> FK | </a:t>
            </a:r>
            <a:r>
              <a:rPr dirty="0" err="1"/>
              <a:t>old_status</a:t>
            </a:r>
            <a:r>
              <a:rPr dirty="0"/>
              <a:t> | </a:t>
            </a:r>
            <a:r>
              <a:rPr dirty="0" err="1"/>
              <a:t>new_status</a:t>
            </a:r>
            <a:r>
              <a:rPr dirty="0"/>
              <a:t> | remarks | </a:t>
            </a:r>
            <a:r>
              <a:rPr dirty="0" err="1"/>
              <a:t>updated_by</a:t>
            </a:r>
            <a:r>
              <a:rPr dirty="0"/>
              <a:t> | </a:t>
            </a:r>
            <a:endParaRPr lang="en-US" dirty="0"/>
          </a:p>
          <a:p>
            <a:pPr>
              <a:defRPr sz="1120">
                <a:solidFill>
                  <a:srgbClr val="232D37"/>
                </a:solidFill>
              </a:defRPr>
            </a:pPr>
            <a:r>
              <a:rPr dirty="0" err="1"/>
              <a:t>updated_at</a:t>
            </a:r>
            <a:endParaRPr dirty="0"/>
          </a:p>
        </p:txBody>
      </p:sp>
      <p:sp>
        <p:nvSpPr>
          <p:cNvPr id="29" name="Rounded Rectangle 28"/>
          <p:cNvSpPr/>
          <p:nvPr/>
        </p:nvSpPr>
        <p:spPr>
          <a:xfrm>
            <a:off x="594360" y="5056632"/>
            <a:ext cx="52578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2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94360" y="5056632"/>
            <a:ext cx="73152" cy="1024128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5212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3456"/>
                </a:solidFill>
              </a:defRPr>
            </a:pPr>
            <a:r>
              <a:t>resolutions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577840"/>
            <a:ext cx="5147563" cy="4370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232D37"/>
                </a:solidFill>
              </a:defRPr>
            </a:pPr>
            <a:r>
              <a:rPr dirty="0" err="1"/>
              <a:t>resolution_id</a:t>
            </a:r>
            <a:r>
              <a:rPr dirty="0"/>
              <a:t> PK | </a:t>
            </a:r>
            <a:r>
              <a:rPr dirty="0" err="1"/>
              <a:t>complaint_id</a:t>
            </a:r>
            <a:r>
              <a:rPr dirty="0"/>
              <a:t> FK UNIQUE | </a:t>
            </a:r>
            <a:r>
              <a:rPr dirty="0" err="1"/>
              <a:t>resolution_description</a:t>
            </a:r>
            <a:r>
              <a:rPr dirty="0"/>
              <a:t> | </a:t>
            </a:r>
            <a:r>
              <a:rPr dirty="0" err="1"/>
              <a:t>resolved_by</a:t>
            </a:r>
            <a:r>
              <a:rPr dirty="0"/>
              <a:t> | </a:t>
            </a:r>
            <a:endParaRPr lang="en-US" dirty="0"/>
          </a:p>
          <a:p>
            <a:pPr>
              <a:defRPr sz="1120">
                <a:solidFill>
                  <a:srgbClr val="232D37"/>
                </a:solidFill>
              </a:defRPr>
            </a:pPr>
            <a:r>
              <a:rPr dirty="0" err="1"/>
              <a:t>resolved_at</a:t>
            </a:r>
            <a:endParaRPr dirty="0"/>
          </a:p>
        </p:txBody>
      </p:sp>
      <p:sp>
        <p:nvSpPr>
          <p:cNvPr id="33" name="Rectangle 32"/>
          <p:cNvSpPr/>
          <p:nvPr/>
        </p:nvSpPr>
        <p:spPr>
          <a:xfrm>
            <a:off x="594360" y="6446520"/>
            <a:ext cx="10972800" cy="18288"/>
          </a:xfrm>
          <a:prstGeom prst="rect">
            <a:avLst/>
          </a:prstGeom>
          <a:solidFill>
            <a:srgbClr val="D2D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78992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456"/>
                </a:solidFill>
              </a:defRPr>
            </a:pPr>
            <a:r>
              <a:t>7. SQL Queries &amp;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C78"/>
                </a:solidFill>
              </a:defRPr>
            </a:pPr>
            <a:r>
              <a:t>Examples of retrieval and reporting from the implemented database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80160"/>
            <a:ext cx="65379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2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280160"/>
            <a:ext cx="73152" cy="2148840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35607"/>
            <a:ext cx="6126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3456"/>
                </a:solidFill>
              </a:defRPr>
            </a:pPr>
            <a:r>
              <a:t>Query — JOIN Complaint Details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01952"/>
            <a:ext cx="6126480" cy="1399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2D37"/>
                </a:solidFill>
              </a:defRPr>
            </a:pPr>
            <a:r>
              <a:t>SELECT c.complaint_id, ci.citizen_name,</a:t>
            </a:r>
            <a:br/>
            <a:r>
              <a:t>cat.category_name, d.department_name, c.status</a:t>
            </a:r>
            <a:br/>
            <a:r>
              <a:t>FROM complaints c</a:t>
            </a:r>
            <a:br/>
            <a:r>
              <a:t>JOIN citizens ci ON c.citizen_id = ci.citizen_id</a:t>
            </a:r>
            <a:br/>
            <a:r>
              <a:t>JOIN categories cat ON c.category_id = cat.category_id</a:t>
            </a:r>
            <a:br/>
            <a:r>
              <a:t>LEFT JOIN departments d ON c.department_id = d.department_id;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137160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456"/>
                </a:solidFill>
              </a:defRPr>
            </a:pPr>
            <a:r>
              <a:t>Sample Output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69480" y="1783080"/>
            <a:ext cx="1024128" cy="502920"/>
          </a:xfrm>
          <a:prstGeom prst="rect">
            <a:avLst/>
          </a:prstGeom>
          <a:solidFill>
            <a:srgbClr val="E0EEEF"/>
          </a:solidFill>
          <a:ln>
            <a:solidFill>
              <a:srgbClr val="D2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06056" y="1901952"/>
            <a:ext cx="95097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232D37"/>
                </a:solidFill>
              </a:defRPr>
            </a:pPr>
            <a:r>
              <a:t>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93608" y="1783080"/>
            <a:ext cx="1024128" cy="502920"/>
          </a:xfrm>
          <a:prstGeom prst="rect">
            <a:avLst/>
          </a:prstGeom>
          <a:solidFill>
            <a:srgbClr val="E0EEEF"/>
          </a:solidFill>
          <a:ln>
            <a:solidFill>
              <a:srgbClr val="D2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30183" y="1901952"/>
            <a:ext cx="95097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232D37"/>
                </a:solidFill>
              </a:defRPr>
            </a:pPr>
            <a:r>
              <a:t>Citizen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17736" y="1783080"/>
            <a:ext cx="1024128" cy="502920"/>
          </a:xfrm>
          <a:prstGeom prst="rect">
            <a:avLst/>
          </a:prstGeom>
          <a:solidFill>
            <a:srgbClr val="E0EEEF"/>
          </a:solidFill>
          <a:ln>
            <a:solidFill>
              <a:srgbClr val="D2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54312" y="1901952"/>
            <a:ext cx="95097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232D37"/>
                </a:solidFill>
              </a:defRPr>
            </a:pPr>
            <a:r>
              <a:t>Category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341864" y="1783080"/>
            <a:ext cx="1024128" cy="502920"/>
          </a:xfrm>
          <a:prstGeom prst="rect">
            <a:avLst/>
          </a:prstGeom>
          <a:solidFill>
            <a:srgbClr val="E0EEEF"/>
          </a:solidFill>
          <a:ln>
            <a:solidFill>
              <a:srgbClr val="D2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378440" y="1901952"/>
            <a:ext cx="95097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232D37"/>
                </a:solidFill>
              </a:defRPr>
            </a:pPr>
            <a:r>
              <a:t>Status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9480" y="2286000"/>
            <a:ext cx="1024128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06056" y="2404872"/>
            <a:ext cx="95097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232D37"/>
                </a:solidFill>
              </a:defRPr>
            </a:pPr>
            <a:r>
              <a:rPr dirty="0"/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93608" y="2286000"/>
            <a:ext cx="1024128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30183" y="2404872"/>
            <a:ext cx="95097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232D37"/>
                </a:solidFill>
              </a:defRPr>
            </a:pPr>
            <a:r>
              <a:t>Rahul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17736" y="2286000"/>
            <a:ext cx="1024128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54312" y="2404872"/>
            <a:ext cx="95097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232D37"/>
                </a:solidFill>
              </a:defRPr>
            </a:pPr>
            <a:r>
              <a:t>Garbage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41864" y="2286000"/>
            <a:ext cx="1024128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378440" y="2404872"/>
            <a:ext cx="95097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232D37"/>
                </a:solidFill>
              </a:defRPr>
            </a:pPr>
            <a:r>
              <a:t>IN_PROGRESS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69480" y="2788920"/>
            <a:ext cx="1024128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06056" y="2907792"/>
            <a:ext cx="95097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232D37"/>
                </a:solidFill>
              </a:defRPr>
            </a:pPr>
            <a:r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93608" y="2788920"/>
            <a:ext cx="1024128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30183" y="2907792"/>
            <a:ext cx="95097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232D37"/>
                </a:solidFill>
              </a:defRPr>
            </a:pPr>
            <a:r>
              <a:t>Priya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17736" y="2788920"/>
            <a:ext cx="1024128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354312" y="2907792"/>
            <a:ext cx="95097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232D37"/>
                </a:solidFill>
              </a:defRPr>
            </a:pPr>
            <a:r>
              <a:t>Road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341864" y="2788920"/>
            <a:ext cx="1024128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378440" y="2907792"/>
            <a:ext cx="95097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232D37"/>
                </a:solidFill>
              </a:defRPr>
            </a:pPr>
            <a:r>
              <a:t>ASSIGNED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69480" y="3291840"/>
            <a:ext cx="1024128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06056" y="3410712"/>
            <a:ext cx="95097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232D37"/>
                </a:solidFill>
              </a:defRPr>
            </a:pPr>
            <a: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93608" y="3291840"/>
            <a:ext cx="1024128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30183" y="3410712"/>
            <a:ext cx="95097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232D37"/>
                </a:solidFill>
              </a:defRPr>
            </a:pPr>
            <a:r>
              <a:t>Amit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17736" y="3291840"/>
            <a:ext cx="1024128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354312" y="3410712"/>
            <a:ext cx="95097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232D37"/>
                </a:solidFill>
              </a:defRPr>
            </a:pPr>
            <a:r>
              <a:t>Street Light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341864" y="3291840"/>
            <a:ext cx="1024128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378440" y="3410712"/>
            <a:ext cx="95097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232D37"/>
                </a:solidFill>
              </a:defRPr>
            </a:pPr>
            <a:r>
              <a:t>RESOLVED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3794760"/>
            <a:ext cx="5257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94360" y="3794760"/>
            <a:ext cx="73152" cy="1417320"/>
          </a:xfrm>
          <a:prstGeom prst="rect">
            <a:avLst/>
          </a:prstGeom>
          <a:solidFill>
            <a:srgbClr val="18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2960" y="3950208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3456"/>
                </a:solidFill>
              </a:defRPr>
            </a:pPr>
            <a:r>
              <a:t>Aggregate Query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4416552"/>
            <a:ext cx="4846320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D37"/>
                </a:solidFill>
              </a:defRPr>
            </a:pPr>
            <a:r>
              <a:t>SELECT status, COUNT(*) AS total</a:t>
            </a:r>
            <a:br/>
            <a:r>
              <a:t>FROM complaints</a:t>
            </a:r>
            <a:br/>
            <a:r>
              <a:t>GROUP BY status;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80760" y="3794760"/>
            <a:ext cx="5440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080760" y="3794760"/>
            <a:ext cx="73152" cy="1417320"/>
          </a:xfrm>
          <a:prstGeom prst="rect">
            <a:avLst/>
          </a:prstGeom>
          <a:solidFill>
            <a:srgbClr val="EEB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09360" y="39502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3456"/>
                </a:solidFill>
              </a:defRPr>
            </a:pPr>
            <a:r>
              <a:t>Output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4416552"/>
            <a:ext cx="532742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rPr dirty="0"/>
              <a:t>One row per complaint status with its count. This result can be used for dashboard</a:t>
            </a:r>
            <a:endParaRPr lang="en-US" dirty="0"/>
          </a:p>
          <a:p>
            <a:pPr>
              <a:defRPr sz="1200">
                <a:solidFill>
                  <a:srgbClr val="232D37"/>
                </a:solidFill>
              </a:defRPr>
            </a:pPr>
            <a:r>
              <a:rPr dirty="0"/>
              <a:t> statistics.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5440680"/>
            <a:ext cx="109270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2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94360" y="5440680"/>
            <a:ext cx="73152" cy="658368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22960" y="545710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3456"/>
                </a:solidFill>
              </a:defRPr>
            </a:pPr>
            <a:r>
              <a:rPr dirty="0"/>
              <a:t>History Query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3816" y="5811106"/>
            <a:ext cx="1051560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2D37"/>
                </a:solidFill>
              </a:defRPr>
            </a:pPr>
            <a:r>
              <a:rPr dirty="0"/>
              <a:t>SELECT * FROM </a:t>
            </a:r>
            <a:r>
              <a:rPr dirty="0" err="1"/>
              <a:t>complaint_history</a:t>
            </a:r>
            <a:r>
              <a:rPr dirty="0"/>
              <a:t> WHERE </a:t>
            </a:r>
            <a:r>
              <a:rPr dirty="0" err="1"/>
              <a:t>complaint_id</a:t>
            </a:r>
            <a:r>
              <a:rPr dirty="0"/>
              <a:t> = 1 ORDER BY </a:t>
            </a:r>
            <a:r>
              <a:rPr dirty="0" err="1"/>
              <a:t>updated_at</a:t>
            </a:r>
            <a:r>
              <a:rPr dirty="0"/>
              <a:t>;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" y="6446520"/>
            <a:ext cx="10972800" cy="18288"/>
          </a:xfrm>
          <a:prstGeom prst="rect">
            <a:avLst/>
          </a:prstGeom>
          <a:solidFill>
            <a:srgbClr val="D2D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78992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456"/>
                </a:solidFill>
              </a:defRPr>
            </a:pPr>
            <a:r>
              <a:t>8. AI Usage Declaration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C78"/>
                </a:solidFill>
              </a:defRPr>
            </a:pPr>
            <a:r>
              <a:t>Statement of assistance and student responsibility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106527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2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73152" cy="4434840"/>
          </a:xfrm>
          <a:prstGeom prst="rect">
            <a:avLst/>
          </a:prstGeom>
          <a:solidFill>
            <a:srgbClr val="18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527048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3456"/>
                </a:solidFill>
              </a:defRPr>
            </a:pPr>
            <a:r>
              <a:t>Declaration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93392"/>
            <a:ext cx="10241280" cy="3685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7"/>
                </a:solidFill>
              </a:defRPr>
            </a:pPr>
            <a:r>
              <a:t>AI tools were used as an assistance resource during the project.</a:t>
            </a:r>
            <a:br/>
            <a:br/>
            <a:r>
              <a:t>Used for:</a:t>
            </a:r>
            <a:br/>
            <a:r>
              <a:t>• Brainstorming and refining project structure</a:t>
            </a:r>
            <a:br/>
            <a:r>
              <a:t>• Explaining DBMS concepts and SQL syntax</a:t>
            </a:r>
            <a:br/>
            <a:r>
              <a:t>• Drafting presentation wording and improving clarity</a:t>
            </a:r>
            <a:br/>
            <a:r>
              <a:t>• Assisting with code and diagram ideas</a:t>
            </a:r>
            <a:br/>
            <a:br/>
            <a:r>
              <a:t>Student responsibility:</a:t>
            </a:r>
            <a:br/>
            <a:r>
              <a:t>• Final project scope and requirements were selected by the students.</a:t>
            </a:r>
            <a:br/>
            <a:r>
              <a:t>• Database design, implementation, testing and demonstration were reviewed by the students.</a:t>
            </a:r>
            <a:br/>
            <a:r>
              <a:t>• Students remain responsible for understanding and explaining the submitted work.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46520"/>
            <a:ext cx="10972800" cy="18288"/>
          </a:xfrm>
          <a:prstGeom prst="rect">
            <a:avLst/>
          </a:prstGeom>
          <a:solidFill>
            <a:srgbClr val="D2D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3C17A2-D488-7912-A015-43A868D21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476"/>
            <a:ext cx="12194319" cy="68565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1305" y="559050"/>
            <a:ext cx="283750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23456"/>
                </a:solidFill>
              </a:defRPr>
            </a:pPr>
            <a:r>
              <a:rPr lang="en-US" dirty="0"/>
              <a:t>9. </a:t>
            </a:r>
            <a:r>
              <a:rPr dirty="0"/>
              <a:t>Live Demo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2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79066" y="6510528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8"/>
                </a:solidFill>
              </a:defRPr>
            </a:pPr>
            <a:r>
              <a:rPr lang="en-US" dirty="0"/>
              <a:t>9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85F2C-26F7-2FD3-0222-2441C710D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7DF28A-33DB-1B1A-B02B-689A536CFF25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F978A0-8552-643E-7A86-3F6093AFCB62}"/>
              </a:ext>
            </a:extLst>
          </p:cNvPr>
          <p:cNvSpPr txBox="1"/>
          <p:nvPr/>
        </p:nvSpPr>
        <p:spPr>
          <a:xfrm>
            <a:off x="4735391" y="2905780"/>
            <a:ext cx="257038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456"/>
                </a:solidFill>
              </a:defRPr>
            </a:pPr>
            <a:r>
              <a:rPr lang="en-US" dirty="0"/>
              <a:t>User Dashboard</a:t>
            </a: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DF9552-8495-CABA-FBC9-B08894D1B9F7}"/>
              </a:ext>
            </a:extLst>
          </p:cNvPr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2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633C40-685F-14FC-4A81-86D108E0C0AE}"/>
              </a:ext>
            </a:extLst>
          </p:cNvPr>
          <p:cNvSpPr txBox="1"/>
          <p:nvPr/>
        </p:nvSpPr>
        <p:spPr>
          <a:xfrm>
            <a:off x="11221357" y="6510528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8"/>
                </a:solidFill>
              </a:defRPr>
            </a:pPr>
            <a:r>
              <a:rPr dirty="0"/>
              <a:t>1</a:t>
            </a:r>
            <a:r>
              <a:rPr lang="en-US" dirty="0"/>
              <a:t>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79892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54A27-7D25-7B4E-C997-C8093D170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100CE8-123E-90C6-442F-D0E848757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52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EA0A9B-9A7A-3DFA-8183-D7F39A0C77AC}"/>
              </a:ext>
            </a:extLst>
          </p:cNvPr>
          <p:cNvSpPr txBox="1"/>
          <p:nvPr/>
        </p:nvSpPr>
        <p:spPr>
          <a:xfrm>
            <a:off x="11221357" y="6510528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8"/>
                </a:solidFill>
              </a:defRPr>
            </a:pPr>
            <a:r>
              <a:rPr dirty="0"/>
              <a:t>1</a:t>
            </a:r>
            <a:r>
              <a:rPr lang="en-US" dirty="0"/>
              <a:t>1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85877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E8A47-B6C8-F654-74F7-ED2F18749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AE1BC1-1D6D-E2CC-42E2-5B08A7F1C768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CE3CBE-5B5A-3E8C-57EC-2928D5F00CEA}"/>
              </a:ext>
            </a:extLst>
          </p:cNvPr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456"/>
                </a:solidFill>
              </a:defRPr>
            </a:pPr>
            <a:r>
              <a:t>Live Demo Plan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07F1BB-21AF-780A-DA9F-0680199DEBB3}"/>
              </a:ext>
            </a:extLst>
          </p:cNvPr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2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A68BB5-E6C0-871A-ACC5-AF161AA82151}"/>
              </a:ext>
            </a:extLst>
          </p:cNvPr>
          <p:cNvSpPr txBox="1"/>
          <p:nvPr/>
        </p:nvSpPr>
        <p:spPr>
          <a:xfrm>
            <a:off x="1088136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8"/>
                </a:solidFill>
              </a:defRPr>
            </a:pPr>
            <a:r>
              <a:t>13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19ADB7-D714-1290-B63F-7862D72B5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516" y="1111691"/>
            <a:ext cx="8242662" cy="46346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B0BF32-85AD-3BAA-1732-F496F5E0C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94"/>
            <a:ext cx="12192000" cy="68560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C6C8E6-D75D-F995-38D0-0144D43654CB}"/>
              </a:ext>
            </a:extLst>
          </p:cNvPr>
          <p:cNvSpPr txBox="1"/>
          <p:nvPr/>
        </p:nvSpPr>
        <p:spPr>
          <a:xfrm>
            <a:off x="11221357" y="6510528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8"/>
                </a:solidFill>
              </a:defRPr>
            </a:pPr>
            <a:r>
              <a:rPr dirty="0"/>
              <a:t>1</a:t>
            </a:r>
            <a:r>
              <a:rPr lang="en-US" dirty="0"/>
              <a:t>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64145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FD4B2-75FC-78D0-C868-F30483DF7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F94B9C-036F-1A5F-FE3E-AF38E8CED944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785A53-9580-EC9B-921E-10754BAA1AF9}"/>
              </a:ext>
            </a:extLst>
          </p:cNvPr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456"/>
                </a:solidFill>
              </a:defRPr>
            </a:pPr>
            <a:r>
              <a:t>Live Demo Plan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617E31-8B6E-CCD3-56DA-7C353BB165A3}"/>
              </a:ext>
            </a:extLst>
          </p:cNvPr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2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E459B1-EDFC-F6A5-DCAA-A5EAC4BB61F2}"/>
              </a:ext>
            </a:extLst>
          </p:cNvPr>
          <p:cNvSpPr txBox="1"/>
          <p:nvPr/>
        </p:nvSpPr>
        <p:spPr>
          <a:xfrm>
            <a:off x="1088136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8"/>
                </a:solidFill>
              </a:defRPr>
            </a:pPr>
            <a:r>
              <a:t>13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0CEE4BA-9242-50A1-76D3-C32983A8A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516" y="1111691"/>
            <a:ext cx="8242662" cy="46346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1419E7-0FF4-37D0-3C9D-63CFFDF8A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66"/>
            <a:ext cx="12192000" cy="68488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EDB5AF0-FD0C-1606-906F-060567250996}"/>
              </a:ext>
            </a:extLst>
          </p:cNvPr>
          <p:cNvSpPr txBox="1"/>
          <p:nvPr/>
        </p:nvSpPr>
        <p:spPr>
          <a:xfrm>
            <a:off x="11221357" y="6510528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8"/>
                </a:solidFill>
              </a:defRPr>
            </a:pPr>
            <a:r>
              <a:rPr dirty="0"/>
              <a:t>1</a:t>
            </a:r>
            <a:r>
              <a:rPr lang="en-US" dirty="0"/>
              <a:t>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70141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6DC27-1E1D-826B-9749-002FE646D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6CD152-5909-B6AE-CF66-E010EE309DAF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7E43AE-7269-860A-0189-1AC6E14A6805}"/>
              </a:ext>
            </a:extLst>
          </p:cNvPr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456"/>
                </a:solidFill>
              </a:defRPr>
            </a:pPr>
            <a:r>
              <a:t>Live Demo Plan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699EEA-E3F3-1100-6EB8-DDFE8A112C96}"/>
              </a:ext>
            </a:extLst>
          </p:cNvPr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2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BB1DA9-25E6-289C-8DFF-3399595A9D75}"/>
              </a:ext>
            </a:extLst>
          </p:cNvPr>
          <p:cNvSpPr txBox="1"/>
          <p:nvPr/>
        </p:nvSpPr>
        <p:spPr>
          <a:xfrm>
            <a:off x="1088136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8"/>
                </a:solidFill>
              </a:defRPr>
            </a:pPr>
            <a:r>
              <a:t>13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85536B-6AAE-17CF-538B-B5984A6D3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516" y="1111691"/>
            <a:ext cx="8242662" cy="46346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308A66-6D90-6B73-15BE-E4DEA96CF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1C21281-1D67-23B5-F300-16CE6F7B3EFD}"/>
              </a:ext>
            </a:extLst>
          </p:cNvPr>
          <p:cNvSpPr txBox="1"/>
          <p:nvPr/>
        </p:nvSpPr>
        <p:spPr>
          <a:xfrm>
            <a:off x="11221357" y="6510528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8"/>
                </a:solidFill>
              </a:defRPr>
            </a:pPr>
            <a:r>
              <a:rPr dirty="0"/>
              <a:t>1</a:t>
            </a:r>
            <a:r>
              <a:rPr lang="en-US" dirty="0"/>
              <a:t>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21480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A7F4D-B0DC-028C-71B1-5C66C0BCF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B4C79F-434B-8495-4298-E73FCE400C09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ADEE7C-20CC-6EEE-CB23-F667726E4044}"/>
              </a:ext>
            </a:extLst>
          </p:cNvPr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456"/>
                </a:solidFill>
              </a:defRPr>
            </a:pPr>
            <a:r>
              <a:t>Live Demo Plan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F3EE83-0BF1-4894-ADA5-743FECBCB026}"/>
              </a:ext>
            </a:extLst>
          </p:cNvPr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2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028795-C8B9-168E-3C35-3FAD527B32BD}"/>
              </a:ext>
            </a:extLst>
          </p:cNvPr>
          <p:cNvSpPr txBox="1"/>
          <p:nvPr/>
        </p:nvSpPr>
        <p:spPr>
          <a:xfrm>
            <a:off x="1088136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8"/>
                </a:solidFill>
              </a:defRPr>
            </a:pPr>
            <a:r>
              <a:t>13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AC19DF0-7462-3AD2-5597-04BBFC19F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516" y="1111691"/>
            <a:ext cx="8242662" cy="46346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05AD79-B452-DCFC-9E58-19BE7A0651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354"/>
            <a:ext cx="12192000" cy="68432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832C55-3957-855E-6216-2A93805348A0}"/>
              </a:ext>
            </a:extLst>
          </p:cNvPr>
          <p:cNvSpPr txBox="1"/>
          <p:nvPr/>
        </p:nvSpPr>
        <p:spPr>
          <a:xfrm>
            <a:off x="11221357" y="6510528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8"/>
                </a:solidFill>
              </a:defRPr>
            </a:pPr>
            <a:r>
              <a:rPr dirty="0"/>
              <a:t>1</a:t>
            </a:r>
            <a:r>
              <a:rPr lang="en-US" dirty="0"/>
              <a:t>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097906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A666F-5D6B-49C0-050E-245302A82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0AE0BB-123D-9D3F-A8AE-32F8AF19D177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B5172B-F188-DE8C-D2F6-F4EDC04D0AE4}"/>
              </a:ext>
            </a:extLst>
          </p:cNvPr>
          <p:cNvSpPr txBox="1"/>
          <p:nvPr/>
        </p:nvSpPr>
        <p:spPr>
          <a:xfrm>
            <a:off x="4587113" y="2905780"/>
            <a:ext cx="286693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456"/>
                </a:solidFill>
              </a:defRPr>
            </a:pPr>
            <a:r>
              <a:rPr lang="en-US" dirty="0"/>
              <a:t>Admin Dashboard</a:t>
            </a: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C80798-487E-B233-C923-4776CEA00945}"/>
              </a:ext>
            </a:extLst>
          </p:cNvPr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2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67487B-F33A-FC8E-5DCF-FE84AB76460A}"/>
              </a:ext>
            </a:extLst>
          </p:cNvPr>
          <p:cNvSpPr txBox="1"/>
          <p:nvPr/>
        </p:nvSpPr>
        <p:spPr>
          <a:xfrm>
            <a:off x="11221357" y="6510528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8"/>
                </a:solidFill>
              </a:defRPr>
            </a:pPr>
            <a:r>
              <a:rPr dirty="0"/>
              <a:t>1</a:t>
            </a:r>
            <a:r>
              <a:rPr lang="en-US" dirty="0"/>
              <a:t>6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25511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993FC-3F50-1FC3-A317-C0F623C5C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7B61BF-23E1-0FFD-F960-9952DC1B9223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BC4E03-D0DF-5C3C-ED2E-6848B4DC5D86}"/>
              </a:ext>
            </a:extLst>
          </p:cNvPr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456"/>
                </a:solidFill>
              </a:defRPr>
            </a:pPr>
            <a:r>
              <a:t>Live Demo Plan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1A878A-2846-50F1-6C67-79E6444F71B4}"/>
              </a:ext>
            </a:extLst>
          </p:cNvPr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2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580F1D-1F61-7847-A746-49F3106298FA}"/>
              </a:ext>
            </a:extLst>
          </p:cNvPr>
          <p:cNvSpPr txBox="1"/>
          <p:nvPr/>
        </p:nvSpPr>
        <p:spPr>
          <a:xfrm>
            <a:off x="1088136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8"/>
                </a:solidFill>
              </a:defRPr>
            </a:pPr>
            <a:r>
              <a:t>13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287755-1CE2-DC36-D126-49E2C53E1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516" y="1111691"/>
            <a:ext cx="8242662" cy="46346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46EFBB-3D02-015A-08E3-F255B4D9A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66"/>
            <a:ext cx="12192000" cy="68488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BE911F-E50A-047A-680A-B29DAFB330C3}"/>
              </a:ext>
            </a:extLst>
          </p:cNvPr>
          <p:cNvSpPr txBox="1"/>
          <p:nvPr/>
        </p:nvSpPr>
        <p:spPr>
          <a:xfrm>
            <a:off x="11221357" y="6510528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8"/>
                </a:solidFill>
              </a:defRPr>
            </a:pPr>
            <a:r>
              <a:rPr dirty="0"/>
              <a:t>1</a:t>
            </a:r>
            <a:r>
              <a:rPr lang="en-US" dirty="0"/>
              <a:t>7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59550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67C9E-58B2-E6B8-C129-EC863D391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8D3D7D-06CE-51AE-003E-B32919A9926C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484450-EF5A-F984-A430-BA9E124D120D}"/>
              </a:ext>
            </a:extLst>
          </p:cNvPr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456"/>
                </a:solidFill>
              </a:defRPr>
            </a:pPr>
            <a:r>
              <a:t>Live Demo Plan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A93E9C-642A-6BBA-ED3F-89603E506167}"/>
              </a:ext>
            </a:extLst>
          </p:cNvPr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2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E4B03D-802D-3997-AD82-63FB9CE4397D}"/>
              </a:ext>
            </a:extLst>
          </p:cNvPr>
          <p:cNvSpPr txBox="1"/>
          <p:nvPr/>
        </p:nvSpPr>
        <p:spPr>
          <a:xfrm>
            <a:off x="1088136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8"/>
                </a:solidFill>
              </a:defRPr>
            </a:pPr>
            <a:r>
              <a:t>13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C1528C1-41E5-939F-D72E-BEF527628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516" y="1111691"/>
            <a:ext cx="8242662" cy="46346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F914B0-A999-B452-B777-FBCC8E814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0817995-DF24-298D-C2B2-B3602A669926}"/>
              </a:ext>
            </a:extLst>
          </p:cNvPr>
          <p:cNvSpPr txBox="1"/>
          <p:nvPr/>
        </p:nvSpPr>
        <p:spPr>
          <a:xfrm>
            <a:off x="11221357" y="6510528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8"/>
                </a:solidFill>
              </a:defRPr>
            </a:pPr>
            <a:r>
              <a:rPr dirty="0"/>
              <a:t>1</a:t>
            </a:r>
            <a:r>
              <a:rPr lang="en-US" dirty="0"/>
              <a:t>8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648815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9B3EC-DCF0-36AC-AA69-33F29A4FC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C9ABB10-D620-3E8B-48E5-B429C11AECA2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1A842D-0204-0BC5-1D7B-18863F4B8616}"/>
              </a:ext>
            </a:extLst>
          </p:cNvPr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456"/>
                </a:solidFill>
              </a:defRPr>
            </a:pPr>
            <a:r>
              <a:t>Live Demo Plan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E0E01A-CF0A-34A0-A305-2183A7C0CA89}"/>
              </a:ext>
            </a:extLst>
          </p:cNvPr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2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0810C8-0EE6-2CF9-E623-AD0E0BD65E65}"/>
              </a:ext>
            </a:extLst>
          </p:cNvPr>
          <p:cNvSpPr txBox="1"/>
          <p:nvPr/>
        </p:nvSpPr>
        <p:spPr>
          <a:xfrm>
            <a:off x="1088136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8"/>
                </a:solidFill>
              </a:defRPr>
            </a:pPr>
            <a:r>
              <a:t>13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B63942-E7F7-E8CB-F8AC-E1AE0BA8D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516" y="1111691"/>
            <a:ext cx="8242662" cy="46346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9E44C8-AF99-895C-2472-2E4437EA4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6891B89-497D-7B49-80B3-74D955B36BBB}"/>
              </a:ext>
            </a:extLst>
          </p:cNvPr>
          <p:cNvSpPr txBox="1"/>
          <p:nvPr/>
        </p:nvSpPr>
        <p:spPr>
          <a:xfrm>
            <a:off x="11221357" y="6510528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8"/>
                </a:solidFill>
              </a:defRPr>
            </a:pPr>
            <a:r>
              <a:rPr dirty="0"/>
              <a:t>1</a:t>
            </a:r>
            <a:r>
              <a:rPr lang="en-US" dirty="0"/>
              <a:t>9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505041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ADCB9-14D4-5CB5-38AB-DD768B9E5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54E712-BC98-55A9-7C50-FF71136D54E2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C21290-C794-6909-BBDD-C3F11CB3748D}"/>
              </a:ext>
            </a:extLst>
          </p:cNvPr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456"/>
                </a:solidFill>
              </a:defRPr>
            </a:pPr>
            <a:r>
              <a:t>Live Demo Plan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833928-2D91-76AF-4407-0FB294FBAB0A}"/>
              </a:ext>
            </a:extLst>
          </p:cNvPr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2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5D6473-7364-D98C-BE71-608951FBE230}"/>
              </a:ext>
            </a:extLst>
          </p:cNvPr>
          <p:cNvSpPr txBox="1"/>
          <p:nvPr/>
        </p:nvSpPr>
        <p:spPr>
          <a:xfrm>
            <a:off x="1088136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8"/>
                </a:solidFill>
              </a:defRPr>
            </a:pPr>
            <a:r>
              <a:t>13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567DD2-F941-25A4-30C4-27479CA06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516" y="1111691"/>
            <a:ext cx="8242662" cy="46346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6A3492-7F53-8F82-CA71-FDCC6A197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56E701F-6B18-D5A5-F92E-F1A7EA065A70}"/>
              </a:ext>
            </a:extLst>
          </p:cNvPr>
          <p:cNvSpPr txBox="1"/>
          <p:nvPr/>
        </p:nvSpPr>
        <p:spPr>
          <a:xfrm>
            <a:off x="11221357" y="6510528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8"/>
                </a:solidFill>
              </a:defRPr>
            </a:pPr>
            <a:r>
              <a:rPr lang="en-US" dirty="0"/>
              <a:t>20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583052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41B21-F945-42A4-62A0-A02BD2171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F83FB61-6572-1474-7F7F-FBCCDFA32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1" y="0"/>
            <a:ext cx="12146097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C151E1-2BCA-FDBA-2924-7C6E226E5A10}"/>
              </a:ext>
            </a:extLst>
          </p:cNvPr>
          <p:cNvSpPr txBox="1"/>
          <p:nvPr/>
        </p:nvSpPr>
        <p:spPr>
          <a:xfrm>
            <a:off x="11221357" y="6510528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8"/>
                </a:solidFill>
              </a:defRPr>
            </a:pPr>
            <a:r>
              <a:rPr lang="en-US" dirty="0"/>
              <a:t>21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96046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A96C3-DD85-D849-988E-982517857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2D5CFF-28AC-7B9B-BC97-3FE125A0E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A3B91AF-1D3D-315A-04C5-5D7CEB76E694}"/>
              </a:ext>
            </a:extLst>
          </p:cNvPr>
          <p:cNvSpPr txBox="1"/>
          <p:nvPr/>
        </p:nvSpPr>
        <p:spPr>
          <a:xfrm>
            <a:off x="11221357" y="6510528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8"/>
                </a:solidFill>
              </a:defRPr>
            </a:pPr>
            <a:r>
              <a:rPr lang="en-US" dirty="0"/>
              <a:t>22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780690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1EA4B-2A52-A294-2DB3-CC2F29593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F3A7A42-96FD-9EE5-6341-583FA129C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1416" y="5115702"/>
            <a:ext cx="4734586" cy="157060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22237D-B9CD-74EC-1269-FF80EB5F7C5E}"/>
              </a:ext>
            </a:extLst>
          </p:cNvPr>
          <p:cNvSpPr txBox="1"/>
          <p:nvPr/>
        </p:nvSpPr>
        <p:spPr>
          <a:xfrm>
            <a:off x="11221357" y="6510528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8"/>
                </a:solidFill>
              </a:defRPr>
            </a:pPr>
            <a:r>
              <a:rPr lang="en-US" dirty="0"/>
              <a:t>23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BCDBD3-BFEC-2092-2BC5-555DB0DAF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81" y="1007746"/>
            <a:ext cx="4734586" cy="17052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645E59-5FE0-AFDF-1E6F-6E2D1CAE86E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0733"/>
          <a:stretch>
            <a:fillRect/>
          </a:stretch>
        </p:blipFill>
        <p:spPr>
          <a:xfrm>
            <a:off x="123981" y="2817584"/>
            <a:ext cx="2800741" cy="219399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B0CA92-B4A3-4339-6D05-4B867046C5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5849" y="956994"/>
            <a:ext cx="6908508" cy="188133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7B80ED3-98D5-E81D-462F-5F572FA904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6494" y="2963697"/>
            <a:ext cx="8752114" cy="19560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584441A-E248-5FFB-96DE-44DA262E02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095" y="5086196"/>
            <a:ext cx="6258798" cy="16956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115F1E7-A22A-5F37-B7C9-888B943A1D9B}"/>
              </a:ext>
            </a:extLst>
          </p:cNvPr>
          <p:cNvSpPr txBox="1"/>
          <p:nvPr/>
        </p:nvSpPr>
        <p:spPr>
          <a:xfrm>
            <a:off x="119934" y="233788"/>
            <a:ext cx="302025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23456"/>
                </a:solidFill>
              </a:defRPr>
            </a:pPr>
            <a:r>
              <a:rPr lang="en-US" dirty="0"/>
              <a:t>10. </a:t>
            </a:r>
            <a:r>
              <a:rPr dirty="0"/>
              <a:t>Live Demo Plan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E87E34C-D34E-221E-BD28-A14A8B346C54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0703810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D89BC-7232-90AB-D7EF-9E6C3B0E4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3073AA-21D1-E38F-20E4-34408B78125B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4412A0-9E66-ABB6-06B0-C4E7BE6C7D3B}"/>
              </a:ext>
            </a:extLst>
          </p:cNvPr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2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481F3A-5474-21B4-7608-26DC81BCD5B4}"/>
              </a:ext>
            </a:extLst>
          </p:cNvPr>
          <p:cNvSpPr txBox="1"/>
          <p:nvPr/>
        </p:nvSpPr>
        <p:spPr>
          <a:xfrm>
            <a:off x="11221357" y="6510528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8"/>
                </a:solidFill>
              </a:defRPr>
            </a:pPr>
            <a:r>
              <a:rPr lang="en-US" dirty="0"/>
              <a:t>24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EF1552-BEC4-4FA4-6A90-0B08069B3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385" y="1156794"/>
            <a:ext cx="8954750" cy="21624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34D07A-DA12-C79E-48AB-F41B29A68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1469" y="3805847"/>
            <a:ext cx="1838582" cy="218152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875329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50909" y="914400"/>
            <a:ext cx="265970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lang="en-US" dirty="0"/>
              <a:t>10</a:t>
            </a:r>
            <a:r>
              <a:rPr dirty="0"/>
              <a:t>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828800"/>
            <a:ext cx="9784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1F0F1"/>
                </a:solidFill>
              </a:defRPr>
            </a:pPr>
            <a:r>
              <a:t>• The project models a real municipal complaint workflow as a structured DBMS.</a:t>
            </a:r>
          </a:p>
          <a:p>
            <a:pPr>
              <a:spcAft>
                <a:spcPts val="1200"/>
              </a:spcAft>
              <a:defRPr sz="1800">
                <a:solidFill>
                  <a:srgbClr val="E1F0F1"/>
                </a:solidFill>
              </a:defRPr>
            </a:pPr>
            <a:r>
              <a:t>• The ER model defines the relationships; the relational schema converts them into SQLite tables.</a:t>
            </a:r>
          </a:p>
          <a:p>
            <a:pPr>
              <a:spcAft>
                <a:spcPts val="1200"/>
              </a:spcAft>
              <a:defRPr sz="1800">
                <a:solidFill>
                  <a:srgbClr val="E1F0F1"/>
                </a:solidFill>
              </a:defRPr>
            </a:pPr>
            <a:r>
              <a:t>• SQL queries support retrieval, reporting and complaint-history tracking.</a:t>
            </a:r>
          </a:p>
          <a:p>
            <a:pPr>
              <a:spcAft>
                <a:spcPts val="1200"/>
              </a:spcAft>
              <a:defRPr sz="1800">
                <a:solidFill>
                  <a:srgbClr val="E1F0F1"/>
                </a:solidFill>
              </a:defRPr>
            </a:pPr>
            <a:r>
              <a:t>• User and Admin dashboards connect the database to practical operations.</a:t>
            </a:r>
          </a:p>
          <a:p>
            <a:pPr>
              <a:spcAft>
                <a:spcPts val="1200"/>
              </a:spcAft>
              <a:defRPr sz="1800">
                <a:solidFill>
                  <a:srgbClr val="E1F0F1"/>
                </a:solidFill>
              </a:defRPr>
            </a:pPr>
            <a:r>
              <a:t>• The result is a traceable workflow from complaint submission to resolution.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5257800"/>
            <a:ext cx="6675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EB44A"/>
                </a:solidFill>
              </a:defRPr>
            </a:pPr>
            <a:r>
              <a:t>Thank You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BD446F-7AEA-E89E-0EBE-0D56A7D25A71}"/>
              </a:ext>
            </a:extLst>
          </p:cNvPr>
          <p:cNvSpPr txBox="1"/>
          <p:nvPr/>
        </p:nvSpPr>
        <p:spPr>
          <a:xfrm>
            <a:off x="11221357" y="6510528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8"/>
                </a:solidFill>
              </a:defRPr>
            </a:pPr>
            <a:r>
              <a:rPr lang="en-US" dirty="0">
                <a:solidFill>
                  <a:schemeClr val="bg1"/>
                </a:solidFill>
              </a:rPr>
              <a:t>25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8" name="Picture 7" descr="MU logo">
            <a:extLst>
              <a:ext uri="{FF2B5EF4-FFF2-40B4-BE49-F238E27FC236}">
                <a16:creationId xmlns:a16="http://schemas.microsoft.com/office/drawing/2014/main" id="{72D85696-A0EF-E9D1-805B-AA6BF6A8F5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307"/>
          <a:stretch>
            <a:fillRect/>
          </a:stretch>
        </p:blipFill>
        <p:spPr>
          <a:xfrm>
            <a:off x="10034512" y="237464"/>
            <a:ext cx="2059455" cy="8910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980</Words>
  <Application>Microsoft Office PowerPoint</Application>
  <PresentationFormat>Widescreen</PresentationFormat>
  <Paragraphs>140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 K</cp:lastModifiedBy>
  <cp:revision>3</cp:revision>
  <dcterms:created xsi:type="dcterms:W3CDTF">2013-01-27T09:14:16Z</dcterms:created>
  <dcterms:modified xsi:type="dcterms:W3CDTF">2026-09-19T06:49:16Z</dcterms:modified>
  <cp:category/>
</cp:coreProperties>
</file>